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AI-Powered Root Cause Analysis</a:t>
            </a:r>
          </a:p>
          <a:p>
            <a:r>
              <a:t>&amp; Data Lineage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Using AI &amp; Knowledge Graphs for Intelligent Problem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C0000"/>
                </a:solidFill>
              </a:defRPr>
            </a:pPr>
            <a:r>
              <a:t>The Problem: Slow Incident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0"/>
              </a:spcBef>
              <a:defRPr sz="2600" b="1">
                <a:solidFill>
                  <a:srgbClr val="CC0000"/>
                </a:solidFill>
              </a:defRPr>
            </a:pPr>
            <a:r>
              <a:t>⏰ Manual Investigation Takes 2-4 Hours</a:t>
            </a:r>
          </a:p>
          <a:p>
            <a:pPr lvl="1">
              <a:spcAft>
                <a:spcPts val="1500"/>
              </a:spcAft>
              <a:defRPr sz="2000"/>
            </a:pPr>
            <a:r>
              <a:t>Engineers manually search through code to understand dependencies</a:t>
            </a:r>
          </a:p>
          <a:p>
            <a:pPr>
              <a:spcBef>
                <a:spcPts val="2000"/>
              </a:spcBef>
              <a:defRPr sz="2600" b="1">
                <a:solidFill>
                  <a:srgbClr val="CC0000"/>
                </a:solidFill>
              </a:defRPr>
            </a:pPr>
            <a:r>
              <a:t>❓ No Visibility</a:t>
            </a:r>
          </a:p>
          <a:p>
            <a:pPr lvl="1">
              <a:spcAft>
                <a:spcPts val="1500"/>
              </a:spcAft>
              <a:defRPr sz="2000"/>
            </a:pPr>
            <a:r>
              <a:t>When a function fails, we don't know which business workflows are affected</a:t>
            </a:r>
          </a:p>
          <a:p>
            <a:pPr>
              <a:spcBef>
                <a:spcPts val="2000"/>
              </a:spcBef>
              <a:defRPr sz="2600" b="1">
                <a:solidFill>
                  <a:srgbClr val="CC0000"/>
                </a:solidFill>
              </a:defRPr>
            </a:pPr>
            <a:r>
              <a:t>💰 Business Impact</a:t>
            </a:r>
          </a:p>
          <a:p>
            <a:pPr lvl="1">
              <a:spcAft>
                <a:spcPts val="1500"/>
              </a:spcAft>
              <a:defRPr sz="2000"/>
            </a:pPr>
            <a:r>
              <a:t>Longer downtime = Lost revenue &amp; poor customer experience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9900"/>
                </a:solidFill>
              </a:defRPr>
            </a:pPr>
            <a:r>
              <a:t>Our Solution: AI-Powered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0"/>
              </a:spcBef>
              <a:defRPr sz="2600" b="1">
                <a:solidFill>
                  <a:srgbClr val="009900"/>
                </a:solidFill>
              </a:defRPr>
            </a:pPr>
            <a:r>
              <a:t>🤖 Knowledge Graph + AI</a:t>
            </a:r>
          </a:p>
          <a:p>
            <a:pPr lvl="1">
              <a:spcAft>
                <a:spcPts val="1500"/>
              </a:spcAft>
              <a:defRPr sz="2000"/>
            </a:pPr>
            <a:r>
              <a:t>Code mapped to graph database + AI analyzes relationships intelligently</a:t>
            </a:r>
          </a:p>
          <a:p>
            <a:pPr>
              <a:spcBef>
                <a:spcPts val="2000"/>
              </a:spcBef>
              <a:defRPr sz="2600" b="1">
                <a:solidFill>
                  <a:srgbClr val="009900"/>
                </a:solidFill>
              </a:defRPr>
            </a:pPr>
            <a:r>
              <a:t>💬 Natural Language Queries</a:t>
            </a:r>
          </a:p>
          <a:p>
            <a:pPr lvl="1">
              <a:spcAft>
                <a:spcPts val="1500"/>
              </a:spcAft>
              <a:defRPr sz="2000"/>
            </a:pPr>
            <a:r>
              <a:t>Ask AI in plain English: 'Which workflows break if function X fails?'</a:t>
            </a:r>
          </a:p>
          <a:p>
            <a:pPr>
              <a:spcBef>
                <a:spcPts val="2000"/>
              </a:spcBef>
              <a:defRPr sz="2600" b="1">
                <a:solidFill>
                  <a:srgbClr val="009900"/>
                </a:solidFill>
              </a:defRPr>
            </a:pPr>
            <a:r>
              <a:t>⚡ AI-Powered Insights</a:t>
            </a:r>
          </a:p>
          <a:p>
            <a:pPr lvl="1">
              <a:spcAft>
                <a:spcPts val="1500"/>
              </a:spcAft>
              <a:defRPr sz="2000"/>
            </a:pPr>
            <a:r>
              <a:t>LLM provides root cause analysis, suggests fixes, explains 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Business Impact: Time &amp; Cost Savings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2000">
                <a:solidFill>
                  <a:srgbClr val="003366"/>
                </a:solidFill>
              </a:defRPr>
            </a:pPr>
            <a:r>
              <a:t>Metric                         Before               After</a:t>
            </a:r>
          </a:p>
          <a:p>
            <a:pPr>
              <a:spcBef>
                <a:spcPts val="1000"/>
              </a:spcBef>
              <a:defRPr sz="1800">
                <a:solidFill>
                  <a:srgbClr val="323232"/>
                </a:solidFill>
              </a:defRPr>
            </a:pPr>
            <a:r>
              <a:t>RCA Investigation Time         2-4 hours            &lt; 5 seconds</a:t>
            </a:r>
          </a:p>
          <a:p>
            <a:pPr>
              <a:spcBef>
                <a:spcPts val="1000"/>
              </a:spcBef>
              <a:defRPr sz="1800">
                <a:solidFill>
                  <a:srgbClr val="323232"/>
                </a:solidFill>
              </a:defRPr>
            </a:pPr>
            <a:r>
              <a:t>Manual Effort                  High                 Automated</a:t>
            </a:r>
          </a:p>
          <a:p>
            <a:pPr>
              <a:spcBef>
                <a:spcPts val="1000"/>
              </a:spcBef>
              <a:defRPr sz="1800">
                <a:solidFill>
                  <a:srgbClr val="323232"/>
                </a:solidFill>
              </a:defRPr>
            </a:pPr>
            <a:r>
              <a:t>Mean Time to Resolution        Hours                Minutes</a:t>
            </a:r>
          </a:p>
          <a:p>
            <a:pPr>
              <a:spcBef>
                <a:spcPts val="1000"/>
              </a:spcBef>
              <a:defRPr sz="1800">
                <a:solidFill>
                  <a:srgbClr val="323232"/>
                </a:solidFill>
              </a:defRPr>
            </a:pPr>
            <a:r>
              <a:t>Additional Cost                -                    $0 (Zero)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48640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9900"/>
                </a:solidFill>
              </a:defRPr>
            </a:pPr>
            <a:r>
              <a:t>Result: Faster incident resolution → Less downtime → Higher revenue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Demo 1: RCA - Function Dependency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600" b="1">
                <a:solidFill>
                  <a:srgbClr val="0066CC"/>
                </a:solidFill>
              </a:defRPr>
            </a:pPr>
            <a:r>
              <a:t>💬 Business Question: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200" i="1"/>
            </a:pPr>
            <a:r>
              <a:t>"Which workflows use the check_order_velocity function?"</a:t>
            </a:r>
          </a:p>
          <a:p>
            <a:pPr>
              <a:spcBef>
                <a:spcPts val="1500"/>
              </a:spcBef>
              <a:defRPr sz="2200" b="1"/>
            </a:pPr>
            <a:r>
              <a:t>⌨️ Command:</a:t>
            </a:r>
          </a:p>
          <a:p>
            <a:pPr lvl="1">
              <a:spcBef>
                <a:spcPts val="500"/>
              </a:spcBef>
              <a:defRPr sz="1800">
                <a:latin typeface="Courier New"/>
              </a:defRPr>
            </a:pPr>
            <a:r>
              <a:t>python query_workflows_rca.py --function check_order_velocity</a:t>
            </a:r>
          </a:p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Verified Results (&lt; 5 seconds):</a:t>
            </a:r>
          </a:p>
          <a:p>
            <a:pPr lvl="1">
              <a:spcBef>
                <a:spcPts val="800"/>
              </a:spcBef>
              <a:defRPr sz="1900"/>
            </a:pPr>
            <a:r>
              <a:t>• 3 workflows found: Retail, Institutional, Algo</a:t>
            </a:r>
          </a:p>
          <a:p>
            <a:pPr lvl="1">
              <a:spcBef>
                <a:spcPts val="800"/>
              </a:spcBef>
              <a:defRPr sz="1900"/>
            </a:pPr>
            <a:r>
              <a:t>• place_order (retail): Step 16/46</a:t>
            </a:r>
          </a:p>
          <a:p>
            <a:pPr lvl="1">
              <a:spcBef>
                <a:spcPts val="800"/>
              </a:spcBef>
              <a:defRPr sz="1900"/>
            </a:pPr>
            <a:r>
              <a:t>• place_institutional_order: Step 14/31</a:t>
            </a:r>
          </a:p>
          <a:p>
            <a:pPr lvl="1">
              <a:spcBef>
                <a:spcPts val="800"/>
              </a:spcBef>
              <a:defRPr sz="1900"/>
            </a:pPr>
            <a:r>
              <a:t>• place_algo_order: Step 10/17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Demo 2: RCA - Service Dependency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0066CC"/>
                </a:solidFill>
              </a:defRPr>
            </a:pPr>
            <a:r>
              <a:t>💬 Business Question: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000" i="1"/>
            </a:pPr>
            <a:r>
              <a:t>"Which workflows depend on risk_service?"</a:t>
            </a:r>
          </a:p>
          <a:p>
            <a:pPr>
              <a:spcBef>
                <a:spcPts val="1500"/>
              </a:spcBef>
              <a:spcAft>
                <a:spcPts val="2000"/>
              </a:spcAft>
              <a:defRPr sz="1800">
                <a:latin typeface="Courier New"/>
              </a:defRPr>
            </a:pPr>
            <a:r>
              <a:t>⌨️ python query_workflows_rca.py --service risk_service</a:t>
            </a:r>
          </a:p>
          <a:p>
            <a:pPr>
              <a:spcBef>
                <a:spcPts val="1500"/>
              </a:spcBef>
              <a:defRPr sz="2400" b="1">
                <a:solidFill>
                  <a:srgbClr val="009900"/>
                </a:solidFill>
              </a:defRPr>
            </a:pPr>
            <a:r>
              <a:t>✅ Verified Results:</a:t>
            </a:r>
          </a:p>
          <a:p>
            <a:pPr lvl="1">
              <a:spcBef>
                <a:spcPts val="800"/>
              </a:spcBef>
              <a:defRPr sz="2000"/>
            </a:pPr>
            <a:r>
              <a:t>• place_algo_order: 17 steps total</a:t>
            </a:r>
          </a:p>
          <a:p>
            <a:pPr lvl="1">
              <a:spcBef>
                <a:spcPts val="800"/>
              </a:spcBef>
              <a:defRPr sz="2000"/>
            </a:pPr>
            <a:r>
              <a:t>• place_institutional_order: 31 steps total</a:t>
            </a:r>
          </a:p>
          <a:p>
            <a:pPr lvl="1">
              <a:spcBef>
                <a:spcPts val="800"/>
              </a:spcBef>
              <a:defRPr sz="2000"/>
            </a:pPr>
            <a:r>
              <a:t>• place_order (retail): 46 steps total</a:t>
            </a:r>
          </a:p>
          <a:p>
            <a:pPr>
              <a:spcBef>
                <a:spcPts val="2500"/>
              </a:spcBef>
              <a:defRPr sz="2400" b="1">
                <a:solidFill>
                  <a:srgbClr val="0066CC"/>
                </a:solidFill>
              </a:defRPr>
            </a:pPr>
            <a:r>
              <a:t>🤖 Use Case:</a:t>
            </a:r>
          </a:p>
          <a:p>
            <a:pPr lvl="1">
              <a:spcBef>
                <a:spcPts val="800"/>
              </a:spcBef>
              <a:defRPr sz="1900"/>
            </a:pPr>
            <a:r>
              <a:t>Instant blast radius analysis for incident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9436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9900"/>
                </a:solidFill>
              </a:defRPr>
            </a:pPr>
            <a:r>
              <a:t>⏱️ Query time: &lt; 5 seconds | Database stores 9 pre-computed workflows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Demo 3: Data Lineage - Field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600" b="1">
                <a:solidFill>
                  <a:srgbClr val="0066CC"/>
                </a:solidFill>
              </a:defRPr>
            </a:pPr>
            <a:r>
              <a:t>💬 Business Question: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200" i="1"/>
            </a:pPr>
            <a:r>
              <a:t>"Where is estimated_pnl calculated and who uses it?"</a:t>
            </a:r>
          </a:p>
          <a:p>
            <a:pPr>
              <a:spcBef>
                <a:spcPts val="1500"/>
              </a:spcBef>
              <a:spcAft>
                <a:spcPts val="2000"/>
              </a:spcAft>
              <a:defRPr sz="1700">
                <a:latin typeface="Courier New"/>
              </a:defRPr>
            </a:pPr>
            <a:r>
              <a:t>⌨️ python query_workflows_rca.py --copilot calculate_estimated_pnl</a:t>
            </a:r>
          </a:p>
          <a:p>
            <a:pPr>
              <a:spcBef>
                <a:spcPts val="2000"/>
              </a:spcBef>
              <a:defRPr sz="2400" b="1">
                <a:solidFill>
                  <a:srgbClr val="009900"/>
                </a:solidFill>
              </a:defRPr>
            </a:pPr>
            <a:r>
              <a:t>✅ Verified Results:</a:t>
            </a:r>
          </a:p>
          <a:p>
            <a:pPr lvl="1">
              <a:spcBef>
                <a:spcPts val="800"/>
              </a:spcBef>
              <a:defRPr sz="1900"/>
            </a:pPr>
            <a:r>
              <a:t>• Source: calculate_estimated_pnl (pricing_pnl_service)</a:t>
            </a:r>
          </a:p>
          <a:p>
            <a:pPr lvl="1">
              <a:spcBef>
                <a:spcPts val="800"/>
              </a:spcBef>
              <a:defRPr sz="1900"/>
            </a:pPr>
            <a:r>
              <a:t>• Used in: place_order (Step 11/46)</a:t>
            </a:r>
          </a:p>
          <a:p>
            <a:pPr lvl="1">
              <a:spcBef>
                <a:spcPts val="800"/>
              </a:spcBef>
              <a:defRPr sz="1900"/>
            </a:pPr>
            <a:r>
              <a:t>• Used in: place_institutional_order (Step 11/31)</a:t>
            </a:r>
          </a:p>
          <a:p>
            <a:pPr lvl="1">
              <a:spcBef>
                <a:spcPts val="800"/>
              </a:spcBef>
              <a:defRPr sz="1900"/>
            </a:pPr>
            <a:r>
              <a:t>• Data flows: pricing → risk → orchestrator</a:t>
            </a:r>
          </a:p>
          <a:p>
            <a:pPr>
              <a:spcBef>
                <a:spcPts val="2500"/>
              </a:spcBef>
              <a:defRPr sz="2400" b="1">
                <a:solidFill>
                  <a:srgbClr val="0066CC"/>
                </a:solidFill>
              </a:defRPr>
            </a:pPr>
            <a:r>
              <a:t>🤖 Use Case:</a:t>
            </a:r>
          </a:p>
          <a:p>
            <a:pPr lvl="1">
              <a:spcBef>
                <a:spcPts val="800"/>
              </a:spcBef>
              <a:defRPr sz="1900"/>
            </a:pPr>
            <a:r>
              <a:t>Data governance, compliance audits, debugging data quality issues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Demo 4: Data Lineage - Data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600" b="1">
                <a:solidFill>
                  <a:srgbClr val="0066CC"/>
                </a:solidFill>
              </a:defRPr>
            </a:pPr>
            <a:r>
              <a:t>💬 Business Question: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2200" i="1"/>
            </a:pPr>
            <a:r>
              <a:t>"What are all data dependencies for calculate_risk_score?"</a:t>
            </a:r>
          </a:p>
          <a:p>
            <a:pPr>
              <a:spcBef>
                <a:spcPts val="1500"/>
              </a:spcBef>
              <a:spcAft>
                <a:spcPts val="2000"/>
              </a:spcAft>
              <a:defRPr sz="1700">
                <a:latin typeface="Courier New"/>
              </a:defRPr>
            </a:pPr>
            <a:r>
              <a:t>⌨️ python query_workflows_rca.py --copilot calculate_risk_score</a:t>
            </a:r>
          </a:p>
          <a:p>
            <a:pPr>
              <a:spcBef>
                <a:spcPts val="1500"/>
              </a:spcBef>
              <a:defRPr sz="2400" b="1">
                <a:solidFill>
                  <a:srgbClr val="009900"/>
                </a:solidFill>
              </a:defRPr>
            </a:pPr>
            <a:r>
              <a:t>✅ Verified Results:</a:t>
            </a:r>
          </a:p>
          <a:p>
            <a:pPr lvl="1">
              <a:spcBef>
                <a:spcPts val="800"/>
              </a:spcBef>
              <a:defRPr sz="1900"/>
            </a:pPr>
            <a:r>
              <a:t>• Used in 2 workflows (retail + institutional)</a:t>
            </a:r>
          </a:p>
          <a:p>
            <a:pPr lvl="1">
              <a:spcBef>
                <a:spcPts val="800"/>
              </a:spcBef>
              <a:defRPr sz="1900"/>
            </a:pPr>
            <a:r>
              <a:t>• Calls 5 helper functions for risk calculation</a:t>
            </a:r>
          </a:p>
          <a:p>
            <a:pPr lvl="1">
              <a:spcBef>
                <a:spcPts val="800"/>
              </a:spcBef>
              <a:defRPr sz="1900"/>
            </a:pPr>
            <a:r>
              <a:t>• Fields accessed: position_size_risk, volatility_risk, quantity_risk</a:t>
            </a:r>
          </a:p>
          <a:p>
            <a:pPr lvl="1">
              <a:spcBef>
                <a:spcPts val="800"/>
              </a:spcBef>
              <a:defRPr sz="1900"/>
            </a:pPr>
            <a:r>
              <a:t>• Complete data contract documented automatically</a:t>
            </a:r>
          </a:p>
          <a:p>
            <a:pPr>
              <a:spcBef>
                <a:spcPts val="2500"/>
              </a:spcBef>
              <a:defRPr sz="2000" b="1">
                <a:solidFill>
                  <a:srgbClr val="0066CC"/>
                </a:solidFill>
              </a:defRPr>
            </a:pPr>
            <a:r>
              <a:t>💡 Value: API documentation generated automatically from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What We Track: Complete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0"/>
              </a:spcAft>
              <a:defRPr sz="2600" b="1"/>
            </a:pPr>
            <a:r>
              <a:t>For Every Function in the System:</a:t>
            </a:r>
          </a:p>
          <a:p>
            <a:pPr>
              <a:spcBef>
                <a:spcPts val="2000"/>
              </a:spcBef>
              <a:defRPr sz="2200" b="1"/>
            </a:pPr>
            <a:r>
              <a:t>📥 Input Parameters What data goes into the function</a:t>
            </a:r>
          </a:p>
          <a:p>
            <a:pPr lvl="1">
              <a:spcBef>
                <a:spcPts val="500"/>
              </a:spcBef>
              <a:defRPr sz="1800">
                <a:solidFill>
                  <a:srgbClr val="646464"/>
                </a:solidFill>
              </a:defRPr>
            </a:pPr>
            <a:r>
              <a:t>Example: order_id, symbol, quantity, price</a:t>
            </a:r>
          </a:p>
          <a:p>
            <a:pPr>
              <a:spcBef>
                <a:spcPts val="2000"/>
              </a:spcBef>
              <a:defRPr sz="2200" b="1"/>
            </a:pPr>
            <a:r>
              <a:t>📤 Return Values What data comes out</a:t>
            </a:r>
          </a:p>
          <a:p>
            <a:pPr lvl="1">
              <a:spcBef>
                <a:spcPts val="500"/>
              </a:spcBef>
              <a:defRPr sz="1800">
                <a:solidFill>
                  <a:srgbClr val="646464"/>
                </a:solidFill>
              </a:defRPr>
            </a:pPr>
            <a:r>
              <a:t>Example: risk_score (float), approved (boolean)</a:t>
            </a:r>
          </a:p>
          <a:p>
            <a:pPr>
              <a:spcBef>
                <a:spcPts val="2000"/>
              </a:spcBef>
              <a:defRPr sz="2200" b="1"/>
            </a:pPr>
            <a:r>
              <a:t>🔄 Fields Accessed Which data fields are read or modified</a:t>
            </a:r>
          </a:p>
          <a:p>
            <a:pPr lvl="1">
              <a:spcBef>
                <a:spcPts val="500"/>
              </a:spcBef>
              <a:defRPr sz="1800">
                <a:solidFill>
                  <a:srgbClr val="646464"/>
                </a:solidFill>
              </a:defRPr>
            </a:pPr>
            <a:r>
              <a:t>Example: .get('total_cost'), .get('risk_limit')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760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9900"/>
                </a:solidFill>
              </a:defRPr>
            </a:pPr>
            <a:r>
              <a:t>Result: Trace data bugs in minutes instead of days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How It Works: AI + Knowledge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286000"/>
            <a:ext cx="2286000" cy="1097280"/>
          </a:xfrm>
          <a:prstGeom prst="rect">
            <a:avLst/>
          </a:prstGeom>
          <a:solidFill>
            <a:srgbClr val="0066CC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1. Parse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/>
            </a:pPr>
            <a:r>
              <a:t>Build knowledge graph of all functions &amp; dependencies</a:t>
            </a:r>
          </a:p>
        </p:txBody>
      </p:sp>
      <p:sp>
        <p:nvSpPr>
          <p:cNvPr id="5" name="Can 4"/>
          <p:cNvSpPr/>
          <p:nvPr/>
        </p:nvSpPr>
        <p:spPr>
          <a:xfrm>
            <a:off x="3108960" y="2651760"/>
            <a:ext cx="365760" cy="365760"/>
          </a:xfrm>
          <a:prstGeom prst="can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49039" y="2286000"/>
            <a:ext cx="2286000" cy="1097280"/>
          </a:xfrm>
          <a:prstGeom prst="rect">
            <a:avLst/>
          </a:prstGeom>
          <a:solidFill>
            <a:srgbClr val="0066CC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2. AI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/>
            </a:pPr>
            <a:r>
              <a:t>LLM analyzes graph, understands relationships &amp; data flow</a:t>
            </a:r>
          </a:p>
        </p:txBody>
      </p:sp>
      <p:sp>
        <p:nvSpPr>
          <p:cNvPr id="8" name="Can 7"/>
          <p:cNvSpPr/>
          <p:nvPr/>
        </p:nvSpPr>
        <p:spPr>
          <a:xfrm>
            <a:off x="6126479" y="2651760"/>
            <a:ext cx="365760" cy="365760"/>
          </a:xfrm>
          <a:prstGeom prst="can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59" y="2286000"/>
            <a:ext cx="2286000" cy="1097280"/>
          </a:xfrm>
          <a:prstGeom prst="rect">
            <a:avLst/>
          </a:prstGeom>
          <a:solidFill>
            <a:srgbClr val="0066CC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3. Natural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3566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/>
            </a:pPr>
            <a:r>
              <a:t>Engineers query in plain English, AI provides intelligent answers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Technology Stack: AI-Powered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 Knowledge Graph (SQL Server Graph DB)</a:t>
            </a:r>
          </a:p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 Code Parser (Python AST Analysis)</a:t>
            </a:r>
          </a:p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 LLM Integration (GPT-4 / Claude / GitHub Copilot)</a:t>
            </a:r>
          </a:p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 Natural Language Interface</a:t>
            </a:r>
          </a:p>
          <a:p>
            <a:pPr>
              <a:spcBef>
                <a:spcPts val="2500"/>
              </a:spcBef>
              <a:defRPr sz="2400" b="1">
                <a:solidFill>
                  <a:srgbClr val="009900"/>
                </a:solidFill>
              </a:defRPr>
            </a:pPr>
            <a:r>
              <a:t>✅  Automated Context Generation for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Why AI Makes the Difference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500"/>
              </a:spcAft>
              <a:defRPr sz="2600" b="1"/>
            </a:pPr>
            <a:r>
              <a:t>🤖 AI Advantages:</a:t>
            </a:r>
          </a:p>
          <a:p>
            <a:pPr>
              <a:spcBef>
                <a:spcPts val="1200"/>
              </a:spcBef>
              <a:defRPr sz="2200"/>
            </a:pPr>
            <a:r>
              <a:t>✓  Natural language queries - No need to learn query syntax</a:t>
            </a:r>
          </a:p>
          <a:p>
            <a:pPr>
              <a:spcBef>
                <a:spcPts val="1200"/>
              </a:spcBef>
              <a:defRPr sz="2200"/>
            </a:pPr>
            <a:r>
              <a:t>✓  Intelligent insights - AI suggests root causes &amp; fixes</a:t>
            </a:r>
          </a:p>
          <a:p>
            <a:pPr>
              <a:spcBef>
                <a:spcPts val="1200"/>
              </a:spcBef>
              <a:defRPr sz="2200"/>
            </a:pPr>
            <a:r>
              <a:t>✓  Context-aware - Understands business impact, not just code</a:t>
            </a:r>
          </a:p>
          <a:p>
            <a:pPr>
              <a:spcBef>
                <a:spcPts val="3500"/>
              </a:spcBef>
              <a:spcAft>
                <a:spcPts val="1500"/>
              </a:spcAft>
              <a:defRPr sz="2600" b="1">
                <a:solidFill>
                  <a:srgbClr val="009900"/>
                </a:solidFill>
              </a:defRPr>
            </a:pPr>
            <a:r>
              <a:t>📊 Business Value:</a:t>
            </a:r>
          </a:p>
          <a:p>
            <a:pPr>
              <a:spcBef>
                <a:spcPts val="1000"/>
              </a:spcBef>
              <a:defRPr sz="2200" b="1">
                <a:solidFill>
                  <a:srgbClr val="009900"/>
                </a:solidFill>
              </a:defRPr>
            </a:pPr>
            <a:r>
              <a:t>2-4 hours → &lt; 5 seconds = 99% faster incident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5029200"/>
            <a:ext cx="5486400" cy="1097280"/>
          </a:xfrm>
          <a:prstGeom prst="rect">
            <a:avLst/>
          </a:prstGeom>
          <a:solidFill>
            <a:srgbClr val="009900"/>
          </a:solidFill>
          <a:ln w="38100">
            <a:solidFill>
              <a:srgbClr val="006600"/>
            </a:solidFill>
          </a:ln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AI-Powered RCA:</a:t>
            </a:r>
            <a:br/>
            <a:r>
              <a:t>Reduces downtime → Improves reliability → Increases revenue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646464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