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01168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003366"/>
                </a:solidFill>
              </a:defRPr>
            </a:pPr>
            <a:r>
              <a:t>AI-Powered Root Cause Analysis</a:t>
            </a:r>
          </a:p>
          <a:p>
            <a:r>
              <a:t>&amp; Data Lineage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38328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>
                <a:solidFill>
                  <a:srgbClr val="646464"/>
                </a:solidFill>
              </a:defRPr>
            </a:pPr>
            <a:r>
              <a:t>Using AI &amp; Knowledge Graphs for Intelligent Problem Resolution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9436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/>
            </a:pPr>
            <a:r>
              <a:t>December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CC0000"/>
                </a:solidFill>
              </a:defRPr>
            </a:pPr>
            <a:r>
              <a:t>The Problem: Slow Incident Resolution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7315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2000"/>
              </a:spcBef>
              <a:defRPr sz="2600" b="1">
                <a:solidFill>
                  <a:srgbClr val="CC0000"/>
                </a:solidFill>
              </a:defRPr>
            </a:pPr>
            <a:r>
              <a:t>⏰ Manual Investigation Takes 2-4 Hours</a:t>
            </a:r>
          </a:p>
          <a:p>
            <a:pPr lvl="1">
              <a:spcAft>
                <a:spcPts val="1500"/>
              </a:spcAft>
              <a:defRPr sz="2000"/>
            </a:pPr>
            <a:r>
              <a:t>Engineers manually search through code to understand dependencies</a:t>
            </a:r>
          </a:p>
          <a:p>
            <a:pPr>
              <a:spcBef>
                <a:spcPts val="2000"/>
              </a:spcBef>
              <a:defRPr sz="2600" b="1">
                <a:solidFill>
                  <a:srgbClr val="CC0000"/>
                </a:solidFill>
              </a:defRPr>
            </a:pPr>
            <a:r>
              <a:t>❓ No Visibility</a:t>
            </a:r>
          </a:p>
          <a:p>
            <a:pPr lvl="1">
              <a:spcAft>
                <a:spcPts val="1500"/>
              </a:spcAft>
              <a:defRPr sz="2000"/>
            </a:pPr>
            <a:r>
              <a:t>When a function fails, we don't know which business workflows are affected</a:t>
            </a:r>
          </a:p>
          <a:p>
            <a:pPr>
              <a:spcBef>
                <a:spcPts val="2000"/>
              </a:spcBef>
              <a:defRPr sz="2600" b="1">
                <a:solidFill>
                  <a:srgbClr val="CC0000"/>
                </a:solidFill>
              </a:defRPr>
            </a:pPr>
            <a:r>
              <a:t>💰 Business Impact</a:t>
            </a:r>
          </a:p>
          <a:p>
            <a:pPr lvl="1">
              <a:spcAft>
                <a:spcPts val="1500"/>
              </a:spcAft>
              <a:defRPr sz="2000"/>
            </a:pPr>
            <a:r>
              <a:t>Longer downtime = Lost revenue &amp; poor customer experience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9900"/>
                </a:solidFill>
              </a:defRPr>
            </a:pPr>
            <a:r>
              <a:t>Our Solution: AI-Powered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7315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2000"/>
              </a:spcBef>
              <a:defRPr sz="2600" b="1">
                <a:solidFill>
                  <a:srgbClr val="009900"/>
                </a:solidFill>
              </a:defRPr>
            </a:pPr>
            <a:r>
              <a:t>🤖 Knowledge Graph + AI</a:t>
            </a:r>
          </a:p>
          <a:p>
            <a:pPr lvl="1">
              <a:spcAft>
                <a:spcPts val="1500"/>
              </a:spcAft>
              <a:defRPr sz="2000"/>
            </a:pPr>
            <a:r>
              <a:t>Code mapped to graph database + AI analyzes relationships intelligently</a:t>
            </a:r>
          </a:p>
          <a:p>
            <a:pPr>
              <a:spcBef>
                <a:spcPts val="2000"/>
              </a:spcBef>
              <a:defRPr sz="2600" b="1">
                <a:solidFill>
                  <a:srgbClr val="009900"/>
                </a:solidFill>
              </a:defRPr>
            </a:pPr>
            <a:r>
              <a:t>💬 Natural Language Queries</a:t>
            </a:r>
          </a:p>
          <a:p>
            <a:pPr lvl="1">
              <a:spcAft>
                <a:spcPts val="1500"/>
              </a:spcAft>
              <a:defRPr sz="2000"/>
            </a:pPr>
            <a:r>
              <a:t>Ask AI in plain English: 'Which workflows break if function X fails?'</a:t>
            </a:r>
          </a:p>
          <a:p>
            <a:pPr>
              <a:spcBef>
                <a:spcPts val="2000"/>
              </a:spcBef>
              <a:defRPr sz="2600" b="1">
                <a:solidFill>
                  <a:srgbClr val="009900"/>
                </a:solidFill>
              </a:defRPr>
            </a:pPr>
            <a:r>
              <a:t>⚡ AI-Powered Insights</a:t>
            </a:r>
          </a:p>
          <a:p>
            <a:pPr lvl="1">
              <a:spcAft>
                <a:spcPts val="1500"/>
              </a:spcAft>
              <a:defRPr sz="2000"/>
            </a:pPr>
            <a:r>
              <a:t>LLM provides root cause analysis, suggests fixes, explains impact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3366"/>
                </a:solidFill>
              </a:defRPr>
            </a:pPr>
            <a:r>
              <a:t>Business Impact: Time &amp; Cost Savings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1828800"/>
            <a:ext cx="64008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2000">
                <a:solidFill>
                  <a:srgbClr val="003366"/>
                </a:solidFill>
              </a:defRPr>
            </a:pPr>
            <a:r>
              <a:t>Metric                         Before               After</a:t>
            </a:r>
          </a:p>
          <a:p>
            <a:pPr>
              <a:spcBef>
                <a:spcPts val="1000"/>
              </a:spcBef>
              <a:defRPr sz="1800">
                <a:solidFill>
                  <a:srgbClr val="323232"/>
                </a:solidFill>
              </a:defRPr>
            </a:pPr>
            <a:r>
              <a:t>RCA Investigation Time         2-4 hours            &lt; 5 seconds</a:t>
            </a:r>
          </a:p>
          <a:p>
            <a:pPr>
              <a:spcBef>
                <a:spcPts val="1000"/>
              </a:spcBef>
              <a:defRPr sz="1800">
                <a:solidFill>
                  <a:srgbClr val="323232"/>
                </a:solidFill>
              </a:defRPr>
            </a:pPr>
            <a:r>
              <a:t>Manual Effort                  High                 Automated</a:t>
            </a:r>
          </a:p>
          <a:p>
            <a:pPr>
              <a:spcBef>
                <a:spcPts val="1000"/>
              </a:spcBef>
              <a:defRPr sz="1800">
                <a:solidFill>
                  <a:srgbClr val="323232"/>
                </a:solidFill>
              </a:defRPr>
            </a:pPr>
            <a:r>
              <a:t>Mean Time to Resolution        Hours                Minutes</a:t>
            </a:r>
          </a:p>
          <a:p>
            <a:pPr>
              <a:spcBef>
                <a:spcPts val="1000"/>
              </a:spcBef>
              <a:defRPr sz="1800">
                <a:solidFill>
                  <a:srgbClr val="323232"/>
                </a:solidFill>
              </a:defRPr>
            </a:pPr>
            <a:r>
              <a:t>Additional Cost                -                    $0 (Zero)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5486400"/>
            <a:ext cx="6400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009900"/>
                </a:solidFill>
              </a:defRPr>
            </a:pPr>
            <a:r>
              <a:t>Result: Faster incident resolution → Less downtime → Higher revenue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3366"/>
                </a:solidFill>
              </a:defRPr>
            </a:pPr>
            <a:r>
              <a:t>Scenario 1: AI-Powered RCA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772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2800" b="1">
                <a:solidFill>
                  <a:srgbClr val="CC0000"/>
                </a:solidFill>
              </a:defRPr>
            </a:pPr>
            <a:r>
              <a:t>⚠️  INCIDENT ALERT</a:t>
            </a:r>
          </a:p>
          <a:p>
            <a:pPr>
              <a:spcBef>
                <a:spcPts val="1000"/>
              </a:spcBef>
              <a:spcAft>
                <a:spcPts val="2500"/>
              </a:spcAft>
              <a:defRPr sz="2200"/>
            </a:pPr>
            <a:r>
              <a:t>Function 'check_order_velocity' is failing in production</a:t>
            </a:r>
          </a:p>
          <a:p>
            <a:pPr>
              <a:spcBef>
                <a:spcPts val="2000"/>
              </a:spcBef>
              <a:defRPr sz="2400" b="1">
                <a:solidFill>
                  <a:srgbClr val="0066CC"/>
                </a:solidFill>
              </a:defRPr>
            </a:pPr>
            <a:r>
              <a:t>💬 Engineer asks AI (Natural Language):</a:t>
            </a:r>
          </a:p>
          <a:p>
            <a:pPr lvl="1">
              <a:spcBef>
                <a:spcPts val="800"/>
              </a:spcBef>
              <a:defRPr sz="2000" i="1"/>
            </a:pPr>
            <a:r>
              <a:t>"Which workflows are affected if check_order_velocity fails?"</a:t>
            </a:r>
          </a:p>
          <a:p>
            <a:pPr>
              <a:spcBef>
                <a:spcPts val="3000"/>
              </a:spcBef>
              <a:defRPr sz="2400" b="1">
                <a:solidFill>
                  <a:srgbClr val="009900"/>
                </a:solidFill>
              </a:defRPr>
            </a:pPr>
            <a:r>
              <a:t>🤖 AI Analyzes Knowledge Graph &amp; Responds:</a:t>
            </a:r>
          </a:p>
          <a:p>
            <a:pPr lvl="1">
              <a:spcBef>
                <a:spcPts val="800"/>
              </a:spcBef>
              <a:defRPr sz="1900"/>
            </a:pPr>
            <a:r>
              <a:t>• 3 critical workflows impacted: Retail, Institutional, Algo Trading</a:t>
            </a:r>
          </a:p>
          <a:p>
            <a:pPr lvl="1">
              <a:spcBef>
                <a:spcPts val="800"/>
              </a:spcBef>
              <a:defRPr sz="1900"/>
            </a:pPr>
            <a:r>
              <a:t>• All order processing is blocked → Zero revenue</a:t>
            </a:r>
          </a:p>
          <a:p>
            <a:pPr lvl="1">
              <a:spcBef>
                <a:spcPts val="800"/>
              </a:spcBef>
              <a:defRPr sz="1900"/>
            </a:pPr>
            <a:r>
              <a:t>• Recommended fix: Check rate limiter configuration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3366"/>
                </a:solidFill>
              </a:defRPr>
            </a:pPr>
            <a:r>
              <a:t>AI Analysis: Detailed Impact Breakdown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772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500"/>
              </a:spcAft>
              <a:defRPr sz="2400" b="1"/>
            </a:pPr>
            <a:r>
              <a:t>🤖 AI explains the full impact:</a:t>
            </a:r>
          </a:p>
          <a:p>
            <a:pPr>
              <a:spcBef>
                <a:spcPts val="2000"/>
              </a:spcBef>
              <a:defRPr sz="2200" b="1"/>
            </a:pPr>
            <a:r>
              <a:t>Workflow 1: Retail Orders</a:t>
            </a:r>
          </a:p>
          <a:p>
            <a:pPr lvl="1">
              <a:spcBef>
                <a:spcPts val="500"/>
              </a:spcBef>
              <a:defRPr sz="1800">
                <a:solidFill>
                  <a:srgbClr val="CC0000"/>
                </a:solidFill>
              </a:defRPr>
            </a:pPr>
            <a:r>
              <a:t>  46 steps total | Step 16 blocked | ⚠️ Customer orders failing</a:t>
            </a:r>
          </a:p>
          <a:p>
            <a:pPr>
              <a:spcBef>
                <a:spcPts val="2000"/>
              </a:spcBef>
              <a:defRPr sz="2200" b="1"/>
            </a:pPr>
            <a:r>
              <a:t>Workflow 2: Institutional Orders</a:t>
            </a:r>
          </a:p>
          <a:p>
            <a:pPr lvl="1">
              <a:spcBef>
                <a:spcPts val="500"/>
              </a:spcBef>
              <a:defRPr sz="1800">
                <a:solidFill>
                  <a:srgbClr val="CC0000"/>
                </a:solidFill>
              </a:defRPr>
            </a:pPr>
            <a:r>
              <a:t>  31 steps total | Step 14 blocked | ⚠️ Large trades blocked</a:t>
            </a:r>
          </a:p>
          <a:p>
            <a:pPr>
              <a:spcBef>
                <a:spcPts val="2000"/>
              </a:spcBef>
              <a:defRPr sz="2200" b="1"/>
            </a:pPr>
            <a:r>
              <a:t>Workflow 3: Algorithmic Trading</a:t>
            </a:r>
          </a:p>
          <a:p>
            <a:pPr lvl="1">
              <a:spcBef>
                <a:spcPts val="500"/>
              </a:spcBef>
              <a:defRPr sz="1800">
                <a:solidFill>
                  <a:srgbClr val="CC0000"/>
                </a:solidFill>
              </a:defRPr>
            </a:pPr>
            <a:r>
              <a:t>  17 steps total | Step 10 blocked | ⚠️ Automated trading stopped</a:t>
            </a:r>
          </a:p>
          <a:p>
            <a:pPr>
              <a:spcBef>
                <a:spcPts val="3000"/>
              </a:spcBef>
              <a:defRPr sz="2400" b="1">
                <a:solidFill>
                  <a:srgbClr val="0066CC"/>
                </a:solidFill>
              </a:defRPr>
            </a:pPr>
            <a:r>
              <a:t>💡 AI Insight:</a:t>
            </a:r>
          </a:p>
          <a:p>
            <a:pPr lvl="1">
              <a:spcBef>
                <a:spcPts val="800"/>
              </a:spcBef>
              <a:defRPr sz="1800" i="1"/>
            </a:pPr>
            <a:r>
              <a:t>"This function validates order rate limits. Likely cause: Redis cache failure or rate limit threshold misconfiguration. Check logs for connection errors."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5943600"/>
            <a:ext cx="6400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009900"/>
                </a:solidFill>
              </a:defRPr>
            </a:pPr>
            <a:r>
              <a:t>⏱️ AI analysis time: &lt; 5 seconds (vs 2-3 hours manual investigation)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3366"/>
                </a:solidFill>
              </a:defRPr>
            </a:pPr>
            <a:r>
              <a:t>Scenario 2: AI-Powered Data Lineage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772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2800" b="1">
                <a:solidFill>
                  <a:srgbClr val="0066CC"/>
                </a:solidFill>
              </a:defRPr>
            </a:pPr>
            <a:r>
              <a:t>🔍 DATA QUALITY ISSUE</a:t>
            </a:r>
          </a:p>
          <a:p>
            <a:pPr>
              <a:spcBef>
                <a:spcPts val="1000"/>
              </a:spcBef>
              <a:spcAft>
                <a:spcPts val="2500"/>
              </a:spcAft>
              <a:defRPr sz="2200"/>
            </a:pPr>
            <a:r>
              <a:t>Customer reports incorrect 'risk_score' in order summary</a:t>
            </a:r>
          </a:p>
          <a:p>
            <a:pPr>
              <a:spcBef>
                <a:spcPts val="2000"/>
              </a:spcBef>
              <a:defRPr sz="2400" b="1">
                <a:solidFill>
                  <a:srgbClr val="0066CC"/>
                </a:solidFill>
              </a:defRPr>
            </a:pPr>
            <a:r>
              <a:t>💬 Engineer asks AI:</a:t>
            </a:r>
          </a:p>
          <a:p>
            <a:pPr lvl="1">
              <a:spcBef>
                <a:spcPts val="800"/>
              </a:spcBef>
              <a:defRPr sz="2000" i="1"/>
            </a:pPr>
            <a:r>
              <a:t>"Trace the data lineage of risk_score field. Where does it get calculated and modified?"</a:t>
            </a:r>
          </a:p>
          <a:p>
            <a:pPr>
              <a:spcBef>
                <a:spcPts val="3000"/>
              </a:spcBef>
              <a:defRPr sz="2400" b="1">
                <a:solidFill>
                  <a:srgbClr val="009900"/>
                </a:solidFill>
              </a:defRPr>
            </a:pPr>
            <a:r>
              <a:t>🤖 AI Traces Through Knowledge Graph:</a:t>
            </a:r>
          </a:p>
          <a:p>
            <a:pPr lvl="1">
              <a:spcBef>
                <a:spcPts val="1000"/>
              </a:spcBef>
              <a:defRPr sz="1800"/>
            </a:pPr>
            <a:r>
              <a:t>• 5 functions touch 'risk_score': calculate_risk_score, adjust_for_volatility, apply_portfolio_factor, aggregate_risk, validate_risk_threshold</a:t>
            </a:r>
          </a:p>
          <a:p>
            <a:pPr lvl="1">
              <a:spcBef>
                <a:spcPts val="1000"/>
              </a:spcBef>
              <a:defRPr sz="1800"/>
            </a:pPr>
            <a:r>
              <a:t>• Data flow: order_velocity → market_volatility → risk_score → approval_decision</a:t>
            </a:r>
          </a:p>
          <a:p>
            <a:pPr lvl="1">
              <a:spcBef>
                <a:spcPts val="1000"/>
              </a:spcBef>
              <a:defRPr sz="1800"/>
            </a:pPr>
            <a:r>
              <a:t>• Likely culprit: apply_portfolio_factor has recent code change (2 days ago)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3366"/>
                </a:solidFill>
              </a:defRPr>
            </a:pPr>
            <a:r>
              <a:t>Data Lineage: Complete Visibility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772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2000"/>
              </a:spcAft>
              <a:defRPr sz="2600" b="1"/>
            </a:pPr>
            <a:r>
              <a:t>What We Track for Every Function:</a:t>
            </a:r>
          </a:p>
          <a:p>
            <a:pPr>
              <a:spcBef>
                <a:spcPts val="2000"/>
              </a:spcBef>
              <a:defRPr sz="2200" b="1"/>
            </a:pPr>
            <a:r>
              <a:t>📥 Input Parameters What data goes into the function</a:t>
            </a:r>
          </a:p>
          <a:p>
            <a:pPr lvl="1">
              <a:spcBef>
                <a:spcPts val="500"/>
              </a:spcBef>
              <a:defRPr sz="1800">
                <a:solidFill>
                  <a:srgbClr val="646464"/>
                </a:solidFill>
              </a:defRPr>
            </a:pPr>
            <a:r>
              <a:t>Example: order_id, symbol, quantity, price</a:t>
            </a:r>
          </a:p>
          <a:p>
            <a:pPr>
              <a:spcBef>
                <a:spcPts val="2000"/>
              </a:spcBef>
              <a:defRPr sz="2200" b="1"/>
            </a:pPr>
            <a:r>
              <a:t>📤 Return Values What data comes out</a:t>
            </a:r>
          </a:p>
          <a:p>
            <a:pPr lvl="1">
              <a:spcBef>
                <a:spcPts val="500"/>
              </a:spcBef>
              <a:defRPr sz="1800">
                <a:solidFill>
                  <a:srgbClr val="646464"/>
                </a:solidFill>
              </a:defRPr>
            </a:pPr>
            <a:r>
              <a:t>Example: risk_score (float), approved (boolean)</a:t>
            </a:r>
          </a:p>
          <a:p>
            <a:pPr>
              <a:spcBef>
                <a:spcPts val="2000"/>
              </a:spcBef>
              <a:defRPr sz="2200" b="1"/>
            </a:pPr>
            <a:r>
              <a:t>🔄 Fields Accessed Which data fields are read or modified</a:t>
            </a:r>
          </a:p>
          <a:p>
            <a:pPr lvl="1">
              <a:spcBef>
                <a:spcPts val="500"/>
              </a:spcBef>
              <a:defRPr sz="1800">
                <a:solidFill>
                  <a:srgbClr val="646464"/>
                </a:solidFill>
              </a:defRPr>
            </a:pPr>
            <a:r>
              <a:t>Example: .get('total_cost'), .get('risk_limit')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76072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009900"/>
                </a:solidFill>
              </a:defRPr>
            </a:pPr>
            <a:r>
              <a:t>Result: Trace data bugs in minutes instead of days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3366"/>
                </a:solidFill>
              </a:defRPr>
            </a:pPr>
            <a:r>
              <a:t>How It Works: AI + Knowledge Graph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2286000"/>
            <a:ext cx="2286000" cy="1097280"/>
          </a:xfrm>
          <a:prstGeom prst="rect">
            <a:avLst/>
          </a:prstGeom>
          <a:solidFill>
            <a:srgbClr val="0066CC"/>
          </a:solidFill>
          <a:ln w="2540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1. Parse Code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5661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/>
            </a:pPr>
            <a:r>
              <a:t>Build knowledge graph of all functions &amp; dependencies</a:t>
            </a:r>
          </a:p>
        </p:txBody>
      </p:sp>
      <p:sp>
        <p:nvSpPr>
          <p:cNvPr id="5" name="Can 4"/>
          <p:cNvSpPr/>
          <p:nvPr/>
        </p:nvSpPr>
        <p:spPr>
          <a:xfrm>
            <a:off x="3108960" y="2651760"/>
            <a:ext cx="365760" cy="365760"/>
          </a:xfrm>
          <a:prstGeom prst="can">
            <a:avLst/>
          </a:prstGeom>
          <a:solidFill>
            <a:srgbClr val="009900"/>
          </a:solidFill>
          <a:ln>
            <a:solidFill>
              <a:srgbClr val="00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749039" y="2286000"/>
            <a:ext cx="2286000" cy="1097280"/>
          </a:xfrm>
          <a:prstGeom prst="rect">
            <a:avLst/>
          </a:prstGeom>
          <a:solidFill>
            <a:srgbClr val="0066CC"/>
          </a:solidFill>
          <a:ln w="2540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2. AI Analysis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749039" y="35661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/>
            </a:pPr>
            <a:r>
              <a:t>LLM analyzes graph, understands relationships &amp; data flow</a:t>
            </a:r>
          </a:p>
        </p:txBody>
      </p:sp>
      <p:sp>
        <p:nvSpPr>
          <p:cNvPr id="8" name="Can 7"/>
          <p:cNvSpPr/>
          <p:nvPr/>
        </p:nvSpPr>
        <p:spPr>
          <a:xfrm>
            <a:off x="6126479" y="2651760"/>
            <a:ext cx="365760" cy="365760"/>
          </a:xfrm>
          <a:prstGeom prst="can">
            <a:avLst/>
          </a:prstGeom>
          <a:solidFill>
            <a:srgbClr val="009900"/>
          </a:solidFill>
          <a:ln>
            <a:solidFill>
              <a:srgbClr val="00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766559" y="2286000"/>
            <a:ext cx="2286000" cy="1097280"/>
          </a:xfrm>
          <a:prstGeom prst="rect">
            <a:avLst/>
          </a:prstGeom>
          <a:solidFill>
            <a:srgbClr val="0066CC"/>
          </a:solidFill>
          <a:ln w="2540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3. Natural Language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66559" y="35661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/>
            </a:pPr>
            <a:r>
              <a:t>Engineers query in plain English, AI provides intelligent answers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3366"/>
                </a:solidFill>
              </a:defRPr>
            </a:pPr>
            <a:r>
              <a:t>Technology Stack: AI-Powered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1645920"/>
            <a:ext cx="6400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2500"/>
              </a:spcBef>
              <a:defRPr sz="2400" b="1">
                <a:solidFill>
                  <a:srgbClr val="009900"/>
                </a:solidFill>
              </a:defRPr>
            </a:pPr>
            <a:r>
              <a:t>✅  Knowledge Graph (SQL Server Graph DB)</a:t>
            </a:r>
          </a:p>
          <a:p>
            <a:pPr>
              <a:spcBef>
                <a:spcPts val="2500"/>
              </a:spcBef>
              <a:defRPr sz="2400" b="1">
                <a:solidFill>
                  <a:srgbClr val="009900"/>
                </a:solidFill>
              </a:defRPr>
            </a:pPr>
            <a:r>
              <a:t>✅  Code Parser (Python AST Analysis)</a:t>
            </a:r>
          </a:p>
          <a:p>
            <a:pPr>
              <a:spcBef>
                <a:spcPts val="2500"/>
              </a:spcBef>
              <a:defRPr sz="2400" b="1">
                <a:solidFill>
                  <a:srgbClr val="009900"/>
                </a:solidFill>
              </a:defRPr>
            </a:pPr>
            <a:r>
              <a:t>✅  LLM Integration (GPT-4 / Claude / GitHub Copilot)</a:t>
            </a:r>
          </a:p>
          <a:p>
            <a:pPr>
              <a:spcBef>
                <a:spcPts val="2500"/>
              </a:spcBef>
              <a:defRPr sz="2400" b="1">
                <a:solidFill>
                  <a:srgbClr val="009900"/>
                </a:solidFill>
              </a:defRPr>
            </a:pPr>
            <a:r>
              <a:t>✅  Natural Language Interface</a:t>
            </a:r>
          </a:p>
          <a:p>
            <a:pPr>
              <a:spcBef>
                <a:spcPts val="2500"/>
              </a:spcBef>
              <a:defRPr sz="2400" b="1">
                <a:solidFill>
                  <a:srgbClr val="009900"/>
                </a:solidFill>
              </a:defRPr>
            </a:pPr>
            <a:r>
              <a:t>✅  Automated Context Generation for AI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3366"/>
                </a:solidFill>
              </a:defRPr>
            </a:pPr>
            <a:r>
              <a:t>Why AI Makes the Difference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7315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500"/>
              </a:spcAft>
              <a:defRPr sz="2600" b="1"/>
            </a:pPr>
            <a:r>
              <a:t>🤖 AI Advantages:</a:t>
            </a:r>
          </a:p>
          <a:p>
            <a:pPr>
              <a:spcBef>
                <a:spcPts val="1200"/>
              </a:spcBef>
              <a:defRPr sz="2200"/>
            </a:pPr>
            <a:r>
              <a:t>✓  Natural language queries - No need to learn query syntax</a:t>
            </a:r>
          </a:p>
          <a:p>
            <a:pPr>
              <a:spcBef>
                <a:spcPts val="1200"/>
              </a:spcBef>
              <a:defRPr sz="2200"/>
            </a:pPr>
            <a:r>
              <a:t>✓  Intelligent insights - AI suggests root causes &amp; fixes</a:t>
            </a:r>
          </a:p>
          <a:p>
            <a:pPr>
              <a:spcBef>
                <a:spcPts val="1200"/>
              </a:spcBef>
              <a:defRPr sz="2200"/>
            </a:pPr>
            <a:r>
              <a:t>✓  Context-aware - Understands business impact, not just code</a:t>
            </a:r>
          </a:p>
          <a:p>
            <a:pPr>
              <a:spcBef>
                <a:spcPts val="3500"/>
              </a:spcBef>
              <a:spcAft>
                <a:spcPts val="1500"/>
              </a:spcAft>
              <a:defRPr sz="2600" b="1">
                <a:solidFill>
                  <a:srgbClr val="009900"/>
                </a:solidFill>
              </a:defRPr>
            </a:pPr>
            <a:r>
              <a:t>📊 Business Value:</a:t>
            </a:r>
          </a:p>
          <a:p>
            <a:pPr>
              <a:spcBef>
                <a:spcPts val="1000"/>
              </a:spcBef>
              <a:defRPr sz="2200" b="1">
                <a:solidFill>
                  <a:srgbClr val="009900"/>
                </a:solidFill>
              </a:defRPr>
            </a:pPr>
            <a:r>
              <a:t>2-4 hours → &lt; 5 seconds = 99% faster incident resolution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5029200"/>
            <a:ext cx="5486400" cy="1097280"/>
          </a:xfrm>
          <a:prstGeom prst="rect">
            <a:avLst/>
          </a:prstGeom>
          <a:solidFill>
            <a:srgbClr val="009900"/>
          </a:solidFill>
          <a:ln w="38100">
            <a:solidFill>
              <a:srgbClr val="006600"/>
            </a:solidFill>
          </a:ln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AI-Powered RCA:</a:t>
            </a:r>
            <a:br/>
            <a:r>
              <a:t>Reduces downtime → Improves reliability → Increases revenue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003366"/>
                </a:solidFill>
              </a:defRPr>
            </a:pPr>
            <a: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411480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>
                <a:solidFill>
                  <a:srgbClr val="646464"/>
                </a:solidFill>
              </a:defRPr>
            </a:pPr>
            <a:r>
              <a:t>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